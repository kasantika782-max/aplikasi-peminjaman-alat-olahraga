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Inconsolata" pitchFamily="1" charset="0"/>
      <p:regular r:id="rId14"/>
    </p:embeddedFont>
    <p:embeddedFont>
      <p:font typeface="Montserrat Black" panose="00000A00000000000000" pitchFamily="2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8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9970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F0545-4942-1372-1232-A435B5F81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766E4-26E1-7A0B-E759-1B960A4F62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F53CB-66E4-E09C-CE40-9F566426B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B881E-6ABF-AD0C-01F0-A79544AEB6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713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82691"/>
            <a:ext cx="759642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Nama Aplikasi: MY Sarprass 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182064"/>
            <a:ext cx="592395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Pembuat: kelompok 6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409979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714994"/>
            <a:ext cx="1304282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Aplikasi pengaduan atau laporan mengenai sarana-prasarana untuk siswa dan admin sekolah. Dibuat sederhana, aman, dan siap untuk digunakan sebagai aplikasi sekolah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93790" y="5682496"/>
            <a:ext cx="13042821" cy="14883"/>
          </a:xfrm>
          <a:prstGeom prst="rect">
            <a:avLst/>
          </a:prstGeom>
          <a:solidFill>
            <a:srgbClr val="151617">
              <a:alpha val="50000"/>
            </a:srgbClr>
          </a:solidFill>
          <a:ln/>
        </p:spPr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36CA28-8C0C-6EF6-AB4C-B1C13E8E848E}"/>
              </a:ext>
            </a:extLst>
          </p:cNvPr>
          <p:cNvGrpSpPr/>
          <p:nvPr/>
        </p:nvGrpSpPr>
        <p:grpSpPr>
          <a:xfrm>
            <a:off x="12622491" y="6581259"/>
            <a:ext cx="1894787" cy="1515015"/>
            <a:chOff x="12600860" y="6601810"/>
            <a:chExt cx="1894787" cy="151501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BF92263-BD9C-5002-ABBA-3CF04A4C1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28350" y="6601810"/>
              <a:ext cx="1239806" cy="123980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66888C5-94FA-29C2-4840-E448C4A6DBD2}"/>
                </a:ext>
              </a:extLst>
            </p:cNvPr>
            <p:cNvSpPr/>
            <p:nvPr/>
          </p:nvSpPr>
          <p:spPr>
            <a:xfrm>
              <a:off x="12600860" y="7737100"/>
              <a:ext cx="1894787" cy="379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001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Kelompok</a:t>
              </a:r>
              <a:r>
                <a:rPr lang="en-US" b="1" dirty="0">
                  <a:solidFill>
                    <a:schemeClr val="tx1"/>
                  </a:solidFill>
                </a:rPr>
                <a:t> 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02418"/>
            <a:ext cx="997088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Latar Belakang — Mengapa Aplikasi ini Dibuat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3095387"/>
            <a:ext cx="13042821" cy="186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Kendala pelaporan kerusakan sarpras yang manual dan tidak </a:t>
            </a:r>
            <a:r>
              <a:rPr lang="en-US" sz="28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terdokumentasi</a:t>
            </a: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Kerusakan sering terlambat ditangani karena alur komunikasi yang tidak </a:t>
            </a:r>
            <a:r>
              <a:rPr lang="en-US" sz="28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jelas</a:t>
            </a: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Duplikasi laporan oleh siswa yang sama karena tidak ada referensi aspirasi lain.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Guru/petugas kesulitan memantau progres dan bukti </a:t>
            </a:r>
            <a:r>
              <a:rPr lang="en-US" sz="28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perbaikan</a:t>
            </a: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Perlu sistem yang sederhana dan transparan untuk siswa dan admin.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438513" y="5431869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36CA28-8C0C-6EF6-AB4C-B1C13E8E848E}"/>
              </a:ext>
            </a:extLst>
          </p:cNvPr>
          <p:cNvGrpSpPr/>
          <p:nvPr/>
        </p:nvGrpSpPr>
        <p:grpSpPr>
          <a:xfrm>
            <a:off x="12690858" y="6600114"/>
            <a:ext cx="1894787" cy="1515015"/>
            <a:chOff x="12600860" y="6601810"/>
            <a:chExt cx="1894787" cy="151501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BF92263-BD9C-5002-ABBA-3CF04A4C1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28350" y="6601810"/>
              <a:ext cx="1239806" cy="123980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66888C5-94FA-29C2-4840-E448C4A6DBD2}"/>
                </a:ext>
              </a:extLst>
            </p:cNvPr>
            <p:cNvSpPr/>
            <p:nvPr/>
          </p:nvSpPr>
          <p:spPr>
            <a:xfrm>
              <a:off x="12600860" y="7737100"/>
              <a:ext cx="1894787" cy="379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001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Kelompok</a:t>
              </a:r>
              <a:r>
                <a:rPr lang="en-US" b="1" dirty="0">
                  <a:solidFill>
                    <a:schemeClr val="tx1"/>
                  </a:solidFill>
                </a:rPr>
                <a:t> 6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02418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Tujuan Aplikasi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3095387"/>
            <a:ext cx="13042821" cy="186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Menyediakan tempat yang resmi untuk pengaduan sarana-prasarana </a:t>
            </a:r>
            <a:r>
              <a:rPr lang="en-US" sz="28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sekolah</a:t>
            </a: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Meningkatkan kecepatan tanggapan dan pelaksanaan proses </a:t>
            </a:r>
            <a:r>
              <a:rPr lang="en-US" sz="28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perbaikan</a:t>
            </a: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Mencegah laporan duplikat dengan akses melihat aspirasi lain.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Mendokumentasikan histori dan bukti perbaikan untuk hal yang </a:t>
            </a:r>
            <a:r>
              <a:rPr lang="en-US" sz="28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sudah</a:t>
            </a: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8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dilaporkan</a:t>
            </a: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Mendukung pengambilan prioritas perbaikan oleh admin.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438513" y="5431869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36CA28-8C0C-6EF6-AB4C-B1C13E8E848E}"/>
              </a:ext>
            </a:extLst>
          </p:cNvPr>
          <p:cNvGrpSpPr/>
          <p:nvPr/>
        </p:nvGrpSpPr>
        <p:grpSpPr>
          <a:xfrm>
            <a:off x="12690858" y="6617135"/>
            <a:ext cx="1894787" cy="1515015"/>
            <a:chOff x="12600860" y="6601810"/>
            <a:chExt cx="1894787" cy="151501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BF92263-BD9C-5002-ABBA-3CF04A4C1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28350" y="6601810"/>
              <a:ext cx="1239806" cy="123980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66888C5-94FA-29C2-4840-E448C4A6DBD2}"/>
                </a:ext>
              </a:extLst>
            </p:cNvPr>
            <p:cNvSpPr/>
            <p:nvPr/>
          </p:nvSpPr>
          <p:spPr>
            <a:xfrm>
              <a:off x="12600860" y="7737100"/>
              <a:ext cx="1894787" cy="379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001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Kelompok</a:t>
              </a:r>
              <a:r>
                <a:rPr lang="en-US" b="1" dirty="0">
                  <a:solidFill>
                    <a:schemeClr val="tx1"/>
                  </a:solidFill>
                </a:rPr>
                <a:t> 6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02418"/>
            <a:ext cx="485572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Ruang Lingkup Sistem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3095387"/>
            <a:ext cx="13042821" cy="186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Halaman Form Aspirasi Siswa — input teks, kategori, lokasi, foto </a:t>
            </a:r>
            <a:r>
              <a:rPr lang="en-US" sz="28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bukti</a:t>
            </a: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Halaman Umpan Balik &amp; Status — admin memberi komentar dan mengubah status.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Filter dan laporan: tanggal, siswa, lokasi, status, </a:t>
            </a:r>
            <a:r>
              <a:rPr lang="en-US" sz="28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prioritas</a:t>
            </a: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Histori perubahan: catatan setiap update status dan </a:t>
            </a:r>
            <a:r>
              <a:rPr lang="en-US" sz="28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progres</a:t>
            </a: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Manajemen data: CRUD siswa dan admin oleh admin.</a:t>
            </a:r>
            <a:endParaRPr lang="en-US" sz="28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D36CA28-8C0C-6EF6-AB4C-B1C13E8E848E}"/>
              </a:ext>
            </a:extLst>
          </p:cNvPr>
          <p:cNvGrpSpPr/>
          <p:nvPr/>
        </p:nvGrpSpPr>
        <p:grpSpPr>
          <a:xfrm>
            <a:off x="12636632" y="6590687"/>
            <a:ext cx="1894787" cy="1515015"/>
            <a:chOff x="12600860" y="6601810"/>
            <a:chExt cx="1894787" cy="151501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BF92263-BD9C-5002-ABBA-3CF04A4C1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28350" y="6601810"/>
              <a:ext cx="1239806" cy="123980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66888C5-94FA-29C2-4840-E448C4A6DBD2}"/>
                </a:ext>
              </a:extLst>
            </p:cNvPr>
            <p:cNvSpPr/>
            <p:nvPr/>
          </p:nvSpPr>
          <p:spPr>
            <a:xfrm>
              <a:off x="12600860" y="7737100"/>
              <a:ext cx="1894787" cy="379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001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Kelompok</a:t>
              </a:r>
              <a:r>
                <a:rPr lang="en-US" b="1" dirty="0">
                  <a:solidFill>
                    <a:schemeClr val="tx1"/>
                  </a:solidFill>
                </a:rPr>
                <a:t> 6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9273" y="1550471"/>
            <a:ext cx="406288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Pengguna Aplikasi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849273" y="264719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Siswa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49273" y="3557945"/>
            <a:ext cx="6168390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Kirim aspirasi/keluhan (form + </a:t>
            </a:r>
            <a:r>
              <a:rPr lang="en-US" sz="2800" b="1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foto</a:t>
            </a:r>
            <a:r>
              <a:rPr lang="en-US" sz="28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)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Lihat status, umpan balik, dan </a:t>
            </a:r>
            <a:r>
              <a:rPr lang="en-US" sz="2800" b="1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histori</a:t>
            </a:r>
            <a:endParaRPr lang="en-US" sz="2800" b="1" dirty="0">
              <a:solidFill>
                <a:srgbClr val="151617"/>
              </a:solidFill>
              <a:latin typeface="Inconsolata" pitchFamily="34" charset="0"/>
              <a:ea typeface="Inconsolata" pitchFamily="34" charset="-122"/>
              <a:cs typeface="Inconsolata" pitchFamily="34" charset="-120"/>
            </a:endParaRP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Lihat progres perbaikan &amp; aspirasi </a:t>
            </a:r>
            <a:r>
              <a:rPr lang="en-US" sz="2800" b="1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siswa</a:t>
            </a:r>
            <a:r>
              <a:rPr lang="en-US" sz="28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lain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Dapat hapus laporan jika masih menunggu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30862" y="264719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Admin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564874" y="3557945"/>
            <a:ext cx="6279356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Lihat daftar aspirasi (filterable)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Update status &amp; </a:t>
            </a:r>
            <a:r>
              <a:rPr lang="en-US" sz="2800" b="1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prioritas</a:t>
            </a:r>
            <a:endParaRPr lang="en-US" sz="2800" b="1" dirty="0">
              <a:solidFill>
                <a:srgbClr val="151617"/>
              </a:solidFill>
              <a:latin typeface="Inconsolata" pitchFamily="34" charset="0"/>
              <a:ea typeface="Inconsolata" pitchFamily="34" charset="-122"/>
              <a:cs typeface="Inconsolata" pitchFamily="34" charset="-120"/>
            </a:endParaRP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Berikan umpan balik dan tambah progres (dengan </a:t>
            </a:r>
            <a:r>
              <a:rPr lang="en-US" sz="2800" b="1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foto</a:t>
            </a:r>
            <a:r>
              <a:rPr lang="en-US" sz="28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)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Kelola data siswa dan admin (CRUD)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438513" y="5576888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36CA28-8C0C-6EF6-AB4C-B1C13E8E848E}"/>
              </a:ext>
            </a:extLst>
          </p:cNvPr>
          <p:cNvGrpSpPr/>
          <p:nvPr/>
        </p:nvGrpSpPr>
        <p:grpSpPr>
          <a:xfrm>
            <a:off x="12690858" y="6590687"/>
            <a:ext cx="1894787" cy="1515015"/>
            <a:chOff x="12600860" y="6601810"/>
            <a:chExt cx="1894787" cy="151501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BF92263-BD9C-5002-ABBA-3CF04A4C1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28350" y="6601810"/>
              <a:ext cx="1239806" cy="1239806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66888C5-94FA-29C2-4840-E448C4A6DBD2}"/>
                </a:ext>
              </a:extLst>
            </p:cNvPr>
            <p:cNvSpPr/>
            <p:nvPr/>
          </p:nvSpPr>
          <p:spPr>
            <a:xfrm>
              <a:off x="12600860" y="7737100"/>
              <a:ext cx="1894787" cy="379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001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Kelompok</a:t>
              </a:r>
              <a:r>
                <a:rPr lang="en-US" b="1" dirty="0">
                  <a:solidFill>
                    <a:schemeClr val="tx1"/>
                  </a:solidFill>
                </a:rPr>
                <a:t> 6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AF0E8-26C8-0A33-60CA-217FF84B2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FBF82DF-CC8D-3E03-F58B-4D284A50561A}"/>
              </a:ext>
            </a:extLst>
          </p:cNvPr>
          <p:cNvSpPr/>
          <p:nvPr/>
        </p:nvSpPr>
        <p:spPr>
          <a:xfrm>
            <a:off x="1068348" y="217931"/>
            <a:ext cx="406288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</a:rPr>
              <a:t>SKEMA DATABASE</a:t>
            </a:r>
            <a:endParaRPr lang="en-US" sz="3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BC43FC8-A260-375C-F015-AE73F912237C}"/>
              </a:ext>
            </a:extLst>
          </p:cNvPr>
          <p:cNvSpPr/>
          <p:nvPr/>
        </p:nvSpPr>
        <p:spPr>
          <a:xfrm>
            <a:off x="1438513" y="5576888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4F0BE2B-CE74-ABF1-8E54-C9EDDE88BEED}"/>
              </a:ext>
            </a:extLst>
          </p:cNvPr>
          <p:cNvGrpSpPr/>
          <p:nvPr/>
        </p:nvGrpSpPr>
        <p:grpSpPr>
          <a:xfrm>
            <a:off x="12782550" y="6781800"/>
            <a:ext cx="1803095" cy="1323902"/>
            <a:chOff x="12600860" y="6601810"/>
            <a:chExt cx="1894787" cy="151501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C73052F-0AD0-74B0-E6B9-D507A20381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28350" y="6601810"/>
              <a:ext cx="1239806" cy="1239806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4FBA800-39DD-FA59-1F04-B0D0E9C1D6B8}"/>
                </a:ext>
              </a:extLst>
            </p:cNvPr>
            <p:cNvSpPr/>
            <p:nvPr/>
          </p:nvSpPr>
          <p:spPr>
            <a:xfrm>
              <a:off x="12600860" y="7737100"/>
              <a:ext cx="1894787" cy="379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001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Kelompok</a:t>
              </a:r>
              <a:r>
                <a:rPr lang="en-US" b="1" dirty="0">
                  <a:solidFill>
                    <a:schemeClr val="tx1"/>
                  </a:solidFill>
                </a:rPr>
                <a:t> 6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882B9556-F515-C465-61A4-38B3F506A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089" y="714064"/>
            <a:ext cx="11252221" cy="623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45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9407"/>
            <a:ext cx="413385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Fitur Utama Sistem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6758" y="1862376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372" y="260651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Autentikasi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3790" y="3035737"/>
            <a:ext cx="41821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Login siswa (NIS) dan admin (username), registrasi siswa, session management.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67074" y="1862376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4316" y="2606516"/>
            <a:ext cx="272165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Manajemen Aspirasi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223986" y="3035737"/>
            <a:ext cx="41823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Kirim aspirasi dengan foto, filter berdasarkan tanggal/lokasi/status, update &amp; hapus.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97389" y="1862376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05003" y="260651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Umpan Balik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654302" y="3035737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Admin memberi feedback, siswa menerima notifikasi &amp; komentar.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1916" y="4385191"/>
            <a:ext cx="496133" cy="4961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859530" y="512933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Progres &amp; Bukti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3008828" y="5558552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Admin menambah progres perbaikan, foto bukti, historis update terlihat jelas.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82232" y="4385191"/>
            <a:ext cx="496133" cy="49613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019217" y="5129332"/>
            <a:ext cx="302204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Manajemen Pengguna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7439144" y="5558552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CRUD siswa &amp; admin untuk menjaga data terbaru dan valid.</a:t>
            </a:r>
            <a:endParaRPr lang="en-US" sz="155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D36CA28-8C0C-6EF6-AB4C-B1C13E8E848E}"/>
              </a:ext>
            </a:extLst>
          </p:cNvPr>
          <p:cNvGrpSpPr/>
          <p:nvPr/>
        </p:nvGrpSpPr>
        <p:grpSpPr>
          <a:xfrm>
            <a:off x="12676023" y="6581260"/>
            <a:ext cx="1894787" cy="1515015"/>
            <a:chOff x="12600860" y="6601810"/>
            <a:chExt cx="1894787" cy="151501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8BF92263-BD9C-5002-ABBA-3CF04A4C1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928350" y="6601810"/>
              <a:ext cx="1239806" cy="1239806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66888C5-94FA-29C2-4840-E448C4A6DBD2}"/>
                </a:ext>
              </a:extLst>
            </p:cNvPr>
            <p:cNvSpPr/>
            <p:nvPr/>
          </p:nvSpPr>
          <p:spPr>
            <a:xfrm>
              <a:off x="12600860" y="7737100"/>
              <a:ext cx="1894787" cy="379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001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Kelompok</a:t>
              </a:r>
              <a:r>
                <a:rPr lang="en-US" b="1" dirty="0">
                  <a:solidFill>
                    <a:schemeClr val="tx1"/>
                  </a:solidFill>
                </a:rPr>
                <a:t> 6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0347"/>
            <a:ext cx="436757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Alur Sistem — Siswa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85" y="1263696"/>
            <a:ext cx="12625030" cy="4737497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EA5200CF-0C62-E238-3821-A3FC968D5428}"/>
              </a:ext>
            </a:extLst>
          </p:cNvPr>
          <p:cNvGrpSpPr/>
          <p:nvPr/>
        </p:nvGrpSpPr>
        <p:grpSpPr>
          <a:xfrm>
            <a:off x="1556848" y="4352319"/>
            <a:ext cx="11516704" cy="1100478"/>
            <a:chOff x="1591065" y="4983915"/>
            <a:chExt cx="11516704" cy="1100478"/>
          </a:xfrm>
        </p:grpSpPr>
        <p:sp>
          <p:nvSpPr>
            <p:cNvPr id="5" name="Text 1"/>
            <p:cNvSpPr/>
            <p:nvPr/>
          </p:nvSpPr>
          <p:spPr>
            <a:xfrm>
              <a:off x="11203535" y="4983915"/>
              <a:ext cx="1904234" cy="1100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30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View Status atau Progres</a:t>
              </a:r>
              <a:endParaRPr lang="en-US" sz="2300" dirty="0"/>
            </a:p>
          </p:txBody>
        </p:sp>
        <p:sp>
          <p:nvSpPr>
            <p:cNvPr id="7" name="Text 2"/>
            <p:cNvSpPr/>
            <p:nvPr/>
          </p:nvSpPr>
          <p:spPr>
            <a:xfrm>
              <a:off x="8803678" y="4983915"/>
              <a:ext cx="1904234" cy="1100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30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Tunggu Respon dari admin</a:t>
              </a:r>
              <a:endParaRPr lang="en-US" sz="2300" dirty="0"/>
            </a:p>
          </p:txBody>
        </p:sp>
        <p:sp>
          <p:nvSpPr>
            <p:cNvPr id="9" name="Text 3"/>
            <p:cNvSpPr/>
            <p:nvPr/>
          </p:nvSpPr>
          <p:spPr>
            <a:xfrm>
              <a:off x="6416864" y="5167328"/>
              <a:ext cx="1904234" cy="7336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30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Kirim Aspirasi</a:t>
              </a:r>
              <a:endParaRPr lang="en-US" sz="2300" dirty="0"/>
            </a:p>
          </p:txBody>
        </p:sp>
        <p:sp>
          <p:nvSpPr>
            <p:cNvPr id="11" name="Text 4"/>
            <p:cNvSpPr/>
            <p:nvPr/>
          </p:nvSpPr>
          <p:spPr>
            <a:xfrm>
              <a:off x="4030050" y="4983915"/>
              <a:ext cx="1904234" cy="1100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30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Lihat Aspirasi Yang Ada</a:t>
              </a:r>
              <a:endParaRPr lang="en-US" sz="2300" dirty="0"/>
            </a:p>
          </p:txBody>
        </p:sp>
        <p:sp>
          <p:nvSpPr>
            <p:cNvPr id="13" name="Text 5"/>
            <p:cNvSpPr/>
            <p:nvPr/>
          </p:nvSpPr>
          <p:spPr>
            <a:xfrm>
              <a:off x="1591065" y="5350741"/>
              <a:ext cx="1904234" cy="3668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30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Login</a:t>
              </a:r>
              <a:endParaRPr lang="en-US" sz="2300" dirty="0"/>
            </a:p>
          </p:txBody>
        </p:sp>
      </p:grpSp>
      <p:sp>
        <p:nvSpPr>
          <p:cNvPr id="14" name="Text 6"/>
          <p:cNvSpPr/>
          <p:nvPr/>
        </p:nvSpPr>
        <p:spPr>
          <a:xfrm>
            <a:off x="841644" y="593579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Diagram di atas menunjukkan langkah ringkas yang diikuti siswa dari masuk sampai mendapatkan solusi. Sistem mendorong pengecekan awal agar tidak terjadi duplikat.</a:t>
            </a:r>
            <a:endParaRPr lang="en-US" sz="15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D36CA28-8C0C-6EF6-AB4C-B1C13E8E848E}"/>
              </a:ext>
            </a:extLst>
          </p:cNvPr>
          <p:cNvGrpSpPr/>
          <p:nvPr/>
        </p:nvGrpSpPr>
        <p:grpSpPr>
          <a:xfrm>
            <a:off x="12680321" y="6570877"/>
            <a:ext cx="1894787" cy="1515015"/>
            <a:chOff x="12600860" y="6601810"/>
            <a:chExt cx="1894787" cy="1515015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BF92263-BD9C-5002-ABBA-3CF04A4C1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28350" y="6601810"/>
              <a:ext cx="1239806" cy="1239806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66888C5-94FA-29C2-4840-E448C4A6DBD2}"/>
                </a:ext>
              </a:extLst>
            </p:cNvPr>
            <p:cNvSpPr/>
            <p:nvPr/>
          </p:nvSpPr>
          <p:spPr>
            <a:xfrm>
              <a:off x="12600860" y="7737100"/>
              <a:ext cx="1894787" cy="379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001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Kelompok</a:t>
              </a:r>
              <a:r>
                <a:rPr lang="en-US" b="1" dirty="0">
                  <a:solidFill>
                    <a:schemeClr val="tx1"/>
                  </a:solidFill>
                </a:rPr>
                <a:t> 6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0347"/>
            <a:ext cx="4542234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Alur Sistem — Admin</a:t>
            </a:r>
            <a:endParaRPr lang="en-US" sz="3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942E4C9-F158-F6CD-CA77-FB7E1BE9F46A}"/>
              </a:ext>
            </a:extLst>
          </p:cNvPr>
          <p:cNvGrpSpPr/>
          <p:nvPr/>
        </p:nvGrpSpPr>
        <p:grpSpPr>
          <a:xfrm>
            <a:off x="351648" y="1337965"/>
            <a:ext cx="12625030" cy="4834288"/>
            <a:chOff x="728719" y="1118863"/>
            <a:chExt cx="12625030" cy="4834288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719" y="1118863"/>
              <a:ext cx="12625030" cy="4737497"/>
            </a:xfrm>
            <a:prstGeom prst="rect">
              <a:avLst/>
            </a:prstGeom>
          </p:spPr>
        </p:pic>
        <p:sp>
          <p:nvSpPr>
            <p:cNvPr id="5" name="Text 1"/>
            <p:cNvSpPr/>
            <p:nvPr/>
          </p:nvSpPr>
          <p:spPr>
            <a:xfrm>
              <a:off x="10940214" y="4283623"/>
              <a:ext cx="1904234" cy="8379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300" b="1" dirty="0" err="1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Tambah</a:t>
              </a:r>
              <a:endPara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endParaRPr>
            </a:p>
            <a:p>
              <a:pPr algn="ctr">
                <a:lnSpc>
                  <a:spcPts val="2850"/>
                </a:lnSpc>
              </a:pPr>
              <a:r>
                <a:rPr lang="en-US" sz="230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Progress</a:t>
              </a:r>
              <a:endParaRPr lang="en-US" sz="2300" dirty="0"/>
            </a:p>
            <a:p>
              <a:pPr marL="0" indent="0" algn="ctr">
                <a:lnSpc>
                  <a:spcPts val="2850"/>
                </a:lnSpc>
                <a:buNone/>
              </a:pPr>
              <a:endPara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endParaRPr>
            </a:p>
            <a:p>
              <a:pPr marL="0" indent="0" algn="ctr">
                <a:lnSpc>
                  <a:spcPts val="2850"/>
                </a:lnSpc>
                <a:buNone/>
              </a:pPr>
              <a:endParaRPr lang="en-US" sz="2300" dirty="0"/>
            </a:p>
          </p:txBody>
        </p:sp>
        <p:sp>
          <p:nvSpPr>
            <p:cNvPr id="6" name="Text 2"/>
            <p:cNvSpPr/>
            <p:nvPr/>
          </p:nvSpPr>
          <p:spPr>
            <a:xfrm>
              <a:off x="11203535" y="5586325"/>
              <a:ext cx="1904234" cy="3668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endParaRPr lang="en-US" sz="2300" dirty="0"/>
            </a:p>
          </p:txBody>
        </p:sp>
        <p:sp>
          <p:nvSpPr>
            <p:cNvPr id="8" name="Text 3"/>
            <p:cNvSpPr/>
            <p:nvPr/>
          </p:nvSpPr>
          <p:spPr>
            <a:xfrm>
              <a:off x="8526680" y="4198093"/>
              <a:ext cx="1904234" cy="1100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30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Berikan Umpan balik</a:t>
              </a:r>
              <a:endParaRPr lang="en-US" sz="2300" dirty="0"/>
            </a:p>
          </p:txBody>
        </p:sp>
        <p:sp>
          <p:nvSpPr>
            <p:cNvPr id="10" name="Text 4"/>
            <p:cNvSpPr/>
            <p:nvPr/>
          </p:nvSpPr>
          <p:spPr>
            <a:xfrm>
              <a:off x="6239945" y="4381506"/>
              <a:ext cx="1904234" cy="7336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30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Update Status</a:t>
              </a:r>
              <a:endParaRPr lang="en-US" sz="2300" dirty="0"/>
            </a:p>
          </p:txBody>
        </p:sp>
        <p:sp>
          <p:nvSpPr>
            <p:cNvPr id="12" name="Text 5"/>
            <p:cNvSpPr/>
            <p:nvPr/>
          </p:nvSpPr>
          <p:spPr>
            <a:xfrm>
              <a:off x="3764679" y="4381506"/>
              <a:ext cx="1904234" cy="7336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30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lihat daftar laporan</a:t>
              </a:r>
              <a:endParaRPr lang="en-US" sz="2300" dirty="0"/>
            </a:p>
          </p:txBody>
        </p:sp>
        <p:sp>
          <p:nvSpPr>
            <p:cNvPr id="14" name="Text 6"/>
            <p:cNvSpPr/>
            <p:nvPr/>
          </p:nvSpPr>
          <p:spPr>
            <a:xfrm>
              <a:off x="1364822" y="4436341"/>
              <a:ext cx="1904234" cy="3668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30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Login</a:t>
              </a:r>
              <a:endParaRPr lang="en-US" sz="2300" dirty="0"/>
            </a:p>
          </p:txBody>
        </p:sp>
      </p:grpSp>
      <p:sp>
        <p:nvSpPr>
          <p:cNvPr id="15" name="Text 7"/>
          <p:cNvSpPr/>
          <p:nvPr/>
        </p:nvSpPr>
        <p:spPr>
          <a:xfrm>
            <a:off x="793790" y="590189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Admin mengelola antrean aspirasi, menetapkan prioritas, mengupdate status, dan mendokumentasikan progres perbaikan untuk transparansi.</a:t>
            </a:r>
            <a:endParaRPr lang="en-US" sz="155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F12AC0D-331C-ABE3-EB42-EEE3F3C480E8}"/>
              </a:ext>
            </a:extLst>
          </p:cNvPr>
          <p:cNvGrpSpPr/>
          <p:nvPr/>
        </p:nvGrpSpPr>
        <p:grpSpPr>
          <a:xfrm>
            <a:off x="12680321" y="6570877"/>
            <a:ext cx="1894787" cy="1515015"/>
            <a:chOff x="12600860" y="6601810"/>
            <a:chExt cx="1894787" cy="151501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100E4FC-0CBC-431F-8A1B-5A9382C5A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28350" y="6601810"/>
              <a:ext cx="1239806" cy="1239806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E236555-6DA2-181D-904C-5DFA93D26FEE}"/>
                </a:ext>
              </a:extLst>
            </p:cNvPr>
            <p:cNvSpPr/>
            <p:nvPr/>
          </p:nvSpPr>
          <p:spPr>
            <a:xfrm>
              <a:off x="12600860" y="7737100"/>
              <a:ext cx="1894787" cy="379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001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Kelompok</a:t>
              </a:r>
              <a:r>
                <a:rPr lang="en-US" b="1" dirty="0">
                  <a:solidFill>
                    <a:schemeClr val="tx1"/>
                  </a:solidFill>
                </a:rPr>
                <a:t> 6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9162"/>
            <a:ext cx="5795367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Teknologi yang Digunakan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03315" y="2200822"/>
            <a:ext cx="13129601" cy="380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Backend: PHP (OOP) — struktur rapi, mudah dipelajari untuk siswa yang baru </a:t>
            </a:r>
            <a:r>
              <a:rPr lang="en-US" sz="28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belajar</a:t>
            </a: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Arsitektur: MVC (Model-View-Controller) — memisahkan logika, tampilan, dan data.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Database: MySQL.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Frontend: HTML/CSS sederhana, template navbar terpisah untuk konsistensi UI.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File upload: digunakan untuk foto bukti aspirasi dan progres perbaikan.</a:t>
            </a:r>
            <a:endParaRPr lang="en-US" sz="28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7910DD-3CE6-08C8-F5A4-C05B33310656}"/>
              </a:ext>
            </a:extLst>
          </p:cNvPr>
          <p:cNvGrpSpPr/>
          <p:nvPr/>
        </p:nvGrpSpPr>
        <p:grpSpPr>
          <a:xfrm>
            <a:off x="12680321" y="6570877"/>
            <a:ext cx="1894787" cy="1515015"/>
            <a:chOff x="12600860" y="6601810"/>
            <a:chExt cx="1894787" cy="151501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144965A-170C-EB82-90B7-4B210969A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28350" y="6601810"/>
              <a:ext cx="1239806" cy="1239806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520C9B8-7A52-3E6D-6AD2-556F4BFE079D}"/>
                </a:ext>
              </a:extLst>
            </p:cNvPr>
            <p:cNvSpPr/>
            <p:nvPr/>
          </p:nvSpPr>
          <p:spPr>
            <a:xfrm>
              <a:off x="12600860" y="7737100"/>
              <a:ext cx="1894787" cy="379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001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Kelompok</a:t>
              </a:r>
              <a:r>
                <a:rPr lang="en-US" b="1" dirty="0">
                  <a:solidFill>
                    <a:schemeClr val="tx1"/>
                  </a:solidFill>
                </a:rPr>
                <a:t> 6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7982"/>
            <a:ext cx="1040665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Struktur Folder Project — Penjelasan Sederhana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2840950"/>
            <a:ext cx="13042821" cy="3440668"/>
          </a:xfrm>
          <a:prstGeom prst="roundRect">
            <a:avLst>
              <a:gd name="adj" fmla="val 26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848570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9887" y="2975253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ASSETS/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609142" y="2975253"/>
            <a:ext cx="100214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CSS, gambar, dan file statis untuk tampilan.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01410" y="3419475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99887" y="3546158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CONTROLLER/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609142" y="3546158"/>
            <a:ext cx="100214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File yang menangani alur aplikasi dan input pengguna.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01410" y="3990380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99887" y="4117062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DATABASE/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609142" y="4117062"/>
            <a:ext cx="100214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Model dan konfigurasi koneksi ke MySQL (query dan struktur tabel).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1410" y="4561284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99887" y="4687967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template/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609142" y="4687967"/>
            <a:ext cx="100214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Potongan tampilan yang dipakai di banyak halaman (navbar, footer).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01410" y="5132189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99887" y="5258872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VIEW/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609142" y="5258872"/>
            <a:ext cx="100214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Tampilan yang dilihat pengguna, dibagi: ADMIN/, SISWA/, auth/.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01410" y="5703094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99887" y="5829776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index.php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3609142" y="5829776"/>
            <a:ext cx="100214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Titik masuk aplikasi — menerima request dan mengarahkan ke controller yang sesuai.</a:t>
            </a:r>
            <a:endParaRPr lang="en-US" sz="155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50E0621-FD75-48F5-6FF2-6A923B01A8B8}"/>
              </a:ext>
            </a:extLst>
          </p:cNvPr>
          <p:cNvGrpSpPr/>
          <p:nvPr/>
        </p:nvGrpSpPr>
        <p:grpSpPr>
          <a:xfrm>
            <a:off x="12680321" y="6570877"/>
            <a:ext cx="1894787" cy="1515015"/>
            <a:chOff x="12600860" y="6601810"/>
            <a:chExt cx="1894787" cy="1515015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35C0186-B7C1-4433-38A4-A19286435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28350" y="6601810"/>
              <a:ext cx="1239806" cy="1239806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CB25822-EB7A-2B55-E841-44315E748AAC}"/>
                </a:ext>
              </a:extLst>
            </p:cNvPr>
            <p:cNvSpPr/>
            <p:nvPr/>
          </p:nvSpPr>
          <p:spPr>
            <a:xfrm>
              <a:off x="12600860" y="7737100"/>
              <a:ext cx="1894787" cy="379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001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Kelompok</a:t>
              </a:r>
              <a:r>
                <a:rPr lang="en-US" b="1" dirty="0">
                  <a:solidFill>
                    <a:schemeClr val="tx1"/>
                  </a:solidFill>
                </a:rPr>
                <a:t> 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613</Words>
  <Application>Microsoft Office PowerPoint</Application>
  <PresentationFormat>Custom</PresentationFormat>
  <Paragraphs>122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Inconsolata</vt:lpstr>
      <vt:lpstr>Montserrat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Rezka Rezka</cp:lastModifiedBy>
  <cp:revision>3</cp:revision>
  <dcterms:created xsi:type="dcterms:W3CDTF">2026-04-19T05:12:43Z</dcterms:created>
  <dcterms:modified xsi:type="dcterms:W3CDTF">2026-04-24T13:19:34Z</dcterms:modified>
</cp:coreProperties>
</file>